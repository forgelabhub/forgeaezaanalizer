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Вклад (вес × значение)</c:v>
                </c:pt>
              </c:strCache>
            </c:strRef>
          </c:tx>
          <c:spPr>
            <a:solidFill>
              <a:srgbClr val="FF6B00"/>
            </a:solidFill>
          </c:spPr>
          <c:cat>
            <c:strRef>
              <c:f>Sheet1!$A$2:$A$6</c:f>
              <c:strCache>
                <c:ptCount val="5"/>
                <c:pt idx="0">
                  <c:v>Близость даты окончания · 3,0</c:v>
                </c:pt>
                <c:pt idx="1">
                  <c:v>Ожидание продления · 2,5</c:v>
                </c:pt>
                <c:pt idx="2">
                  <c:v>Автопродление отключено · 2,0</c:v>
                </c:pt>
                <c:pt idx="3">
                  <c:v>Недостаточно средств · 0,0</c:v>
                </c:pt>
                <c:pt idx="4">
                  <c:v>Услуга приостановлена · 0,0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3.0</c:v>
                </c:pt>
                <c:pt idx="1">
                  <c:v>2.5</c:v>
                </c:pt>
                <c:pt idx="2">
                  <c:v>2.0</c:v>
                </c:pt>
                <c:pt idx="3">
                  <c:v>0.0</c:v>
                </c:pt>
                <c:pt idx="4">
                  <c:v>0.0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000">
                  <a:latin typeface="Manrope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1E1E1"/>
            </a:solidFill>
          </a:ln>
        </c:spPr>
        <c:txPr>
          <a:bodyPr/>
          <a:lstStyle/>
          <a:p>
            <a:pPr>
              <a:defRPr sz="950">
                <a:latin typeface="Manrope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 сказать (15 сек):</a:t>
            </a:r>
          </a:p>
          <a:p>
            <a:r>
              <a:t>«У Aéza есть снимок клиентской базы. Мы задали один вопрос: как найти клиента,</a:t>
            </a:r>
          </a:p>
          <a:p>
            <a:r>
              <a:t>который может уйти, понять почему и оценить деньги, пока он ещё не ушёл.</a:t>
            </a:r>
          </a:p>
          <a:p>
            <a:r>
              <a:t>Вот что получилось.»</a:t>
            </a:r>
          </a:p>
          <a:p/>
          <a:p>
            <a:r>
              <a:t>Не начинайте с определения оттока и не читайте подзаголовок вслух — он на экране.</a:t>
            </a:r>
          </a:p>
          <a:p>
            <a:r>
              <a:t>ПЕРЕД ЗАЩИТОЙ: вписать название команды и участников, поставить реальные QR</a:t>
            </a:r>
          </a:p>
          <a:p>
            <a:r>
              <a:t>на демо-стенд и GitHub.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 сказать (35 сек):</a:t>
            </a:r>
          </a:p>
          <a:p>
            <a:r>
              <a:t>«По 30 услугам снимка: 12 уже близки к окончанию, 9 не продлятся автоматически,</a:t>
            </a:r>
          </a:p>
          <a:p>
            <a:r>
              <a:t>6 услуг приостановлены и 6 ждут продления. Каждый сигнал по</a:t>
            </a:r>
          </a:p>
          <a:p>
            <a:r>
              <a:t>отдельности выглядит безобидно. Вместе они описывают клиента, который может уйти.</a:t>
            </a:r>
          </a:p>
          <a:p>
            <a:r>
              <a:t>Проблема в том, что в общем списке этого не видно: нет ни приоритета, ни объяснения.</a:t>
            </a:r>
          </a:p>
          <a:p>
            <a:r>
              <a:t>Отсюда — поздняя реакция.»</a:t>
            </a:r>
          </a:p>
          <a:p/>
          <a:p>
            <a:r>
              <a:t>Показать: три блока схемы, затем цифры нижней полосы.</a:t>
            </a:r>
          </a:p>
          <a:p>
            <a:r>
              <a:t>Возможный вопрос: «Это статистика реальной базы Aéza?» — Нет. Это подсчёт по</a:t>
            </a:r>
          </a:p>
          <a:p>
            <a:r>
              <a:t>синтетическому снимку из комплекта кейса. Мы не приписываем эти числа реальным</a:t>
            </a:r>
          </a:p>
          <a:p>
            <a:r>
              <a:t>клиентам Aéza.</a:t>
            </a:r>
          </a:p>
          <a:p>
            <a:r>
              <a:t>Переход: «Поэтому мы собрали инструмент, который делает это за аналитика.»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 сказать (30 сек):</a:t>
            </a:r>
          </a:p>
          <a:p>
            <a:r>
              <a:t>«Продукт делает четыре вещи: находит клиентов под риском и сортирует их,</a:t>
            </a:r>
          </a:p>
          <a:p>
            <a:r>
              <a:t>показывает балл риска, объясняет оценку конкретными сигналами и позволяет</a:t>
            </a:r>
          </a:p>
          <a:p>
            <a:r>
              <a:t>менять веса модели. Всё это — реальный интерфейс запущенного приложения, а не макет.»</a:t>
            </a:r>
          </a:p>
          <a:p/>
          <a:p>
            <a:r>
              <a:t>Показать: маркеры 1–4 сверху, затем слева таблицу клиентов (обратите внимание на</a:t>
            </a:r>
          </a:p>
          <a:p>
            <a:r>
              <a:t>строку user-0010@example.test — балл 71,4, верхняя группа риска), справа сводные</a:t>
            </a:r>
          </a:p>
          <a:p>
            <a:r>
              <a:t>метрики и блок</a:t>
            </a:r>
          </a:p>
          <a:p>
            <a:r>
              <a:t>«Основные причины риска».</a:t>
            </a:r>
          </a:p>
          <a:p>
            <a:r>
              <a:t>Возможный вопрос: «Это прототип на макете?» — Нет. Приложение запущено:</a:t>
            </a:r>
          </a:p>
          <a:p>
            <a:r>
              <a:t>FastAPI + Postgres + React, работает на снимке из комплекта кейса.</a:t>
            </a:r>
          </a:p>
          <a:p>
            <a:r>
              <a:t>Переход: «Пройдём этот путь на конкретном клиенте.»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 сказать (60 сек):</a:t>
            </a:r>
          </a:p>
          <a:p>
            <a:r>
              <a:t>«Открываем список клиентов — он уже отсортирован по риску. Сверху двое с</a:t>
            </a:r>
          </a:p>
          <a:p>
            <a:r>
              <a:t>одинаковым баллом 71,4: клиент #5 и клиент #10. Берём #10 — он показывает</a:t>
            </a:r>
          </a:p>
          <a:p>
            <a:r>
              <a:t>то же правило клиентского балла на двух услугах сразу. Максимум по списку</a:t>
            </a:r>
          </a:p>
          <a:p>
            <a:r>
              <a:t>именно 71,4, и ни один клиент не поднялся выше.</a:t>
            </a:r>
          </a:p>
          <a:p>
            <a:r>
              <a:t>Что мы про него знаем из данных: три услуги, все пригодны для прогноза,</a:t>
            </a:r>
          </a:p>
          <a:p>
            <a:r>
              <a:t>баланс 203,79 €, всего пополнено 4 206,69 €. Выручка под риском — ноль,</a:t>
            </a:r>
          </a:p>
          <a:p>
            <a:r>
              <a:t>и это отдельный важный момент, к нему вернёмся на слайде про деньги.</a:t>
            </a:r>
          </a:p>
          <a:p>
            <a:r>
              <a:t>Причины: услуга просрочена на 35 дней, ждёт продления, автопродление выключено.</a:t>
            </a:r>
          </a:p>
          <a:p>
            <a:r>
              <a:t>Три причины — это ровно те три фактора, что дали вклад в балл.»</a:t>
            </a:r>
          </a:p>
          <a:p/>
          <a:p>
            <a:r>
              <a:t>Показать: /customers → клик по #10 → шапка, метрики, блок «Причины оценки».</a:t>
            </a:r>
          </a:p>
          <a:p>
            <a:r>
              <a:t>Возможный вопрос: «Почему балл клиента 71,4, а не среднее по услугам?» —</a:t>
            </a:r>
          </a:p>
          <a:p>
            <a:r>
              <a:t>Правило продукта: балл клиента — максимум по услугам, пригодным для прогноза.</a:t>
            </a:r>
          </a:p>
          <a:p>
            <a:r>
              <a:t>У #10 это видно наглядно: две услуги по 71,4 и одна 52,4 — берётся максимум.</a:t>
            </a:r>
          </a:p>
          <a:p>
            <a:r>
              <a:t>Среднее замаскировало бы одну критичную услугу.</a:t>
            </a:r>
          </a:p>
          <a:p>
            <a:r>
              <a:t>Переход: «Разберём, из чего складывается этот балл.»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 сказать (50 сек):</a:t>
            </a:r>
          </a:p>
          <a:p>
            <a:r>
              <a:t>«Балл — это не «алгоритм решил». Формула простая и проверяемая: сто умножить на</a:t>
            </a:r>
          </a:p>
          <a:p>
            <a:r>
              <a:t>сумму вес×значение, делить на сумму весов. По этой услуге сумма вкладов 7,5 из 10,5 —</a:t>
            </a:r>
          </a:p>
          <a:p>
            <a:r>
              <a:t>отсюда 71,4.</a:t>
            </a:r>
          </a:p>
          <a:p>
            <a:r>
              <a:t>Крупнейшие вклады: близость даты окончания — 3,0, ожидание продления — 2,5,</a:t>
            </a:r>
          </a:p>
          <a:p>
            <a:r>
              <a:t>автопродление отключено — 2,0.</a:t>
            </a:r>
          </a:p>
          <a:p>
            <a:r>
              <a:t>Остальные четыре фактора дали ноль: баланса хватает на продление, услуга не</a:t>
            </a:r>
          </a:p>
          <a:p>
            <a:r>
              <a:t>приостановлена, а попыток продления за 90 дней нет, поэтому доля неуспешных</a:t>
            </a:r>
          </a:p>
          <a:p>
            <a:r>
              <a:t>не определена и в знаменатель не входит.</a:t>
            </a:r>
          </a:p>
          <a:p>
            <a:r>
              <a:t>Это тоже важно: модель не накручивает риск там, где сигналов нет.»</a:t>
            </a:r>
          </a:p>
          <a:p/>
          <a:p>
            <a:r>
              <a:t>Показать: диаграмму вкладов, затем правые карточки «наблюдение → интерпретация →</a:t>
            </a:r>
          </a:p>
          <a:p>
            <a:r>
              <a:t>влияние». В интерфейсе — кнопку «Показать все факторы (7)».</a:t>
            </a:r>
          </a:p>
          <a:p>
            <a:r>
              <a:t>Возможный вопрос: «Это машинное обучение?» — Нет, и мы это не скрываем.</a:t>
            </a:r>
          </a:p>
          <a:p>
            <a:r>
              <a:t>В снимке нет исторических исходов: обучать и валидировать классификатор не на чем.</a:t>
            </a:r>
          </a:p>
          <a:p>
            <a:r>
              <a:t>Модуль спроектирован под замену на калиброванную модель без смены API.</a:t>
            </a:r>
          </a:p>
          <a:p>
            <a:r>
              <a:t>Переход: «Теперь деньги — отдельно от риска.»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 сказать (45 сек):</a:t>
            </a:r>
          </a:p>
          <a:p>
            <a:r>
              <a:t>«Здесь важно не сложить несопоставимое. У клиента #10 балл высокий — 71,4,</a:t>
            </a:r>
          </a:p>
          <a:p>
            <a:r>
              <a:t>но выручка под риском ноль. Почему? Все его сроки уже прошли: просроченные</a:t>
            </a:r>
          </a:p>
          <a:p>
            <a:r>
              <a:t>продления лежат в прошлом, а горизонт смотрит вперёд. Услуг с продлением</a:t>
            </a:r>
          </a:p>
          <a:p>
            <a:r>
              <a:t>внутри 30 дней у него нет.</a:t>
            </a:r>
          </a:p>
          <a:p>
            <a:r>
              <a:t>Баланс 203,79 € и пополнения 4 206,69 € — это не потерянные деньги. Мы держим</a:t>
            </a:r>
          </a:p>
          <a:p>
            <a:r>
              <a:t>три величины раздельно: выручка под риском — прогноз, предстоящие продления —</a:t>
            </a:r>
          </a:p>
          <a:p>
            <a:r>
              <a:t>сумма без риска, пополнения — справочная история.»</a:t>
            </a:r>
          </a:p>
          <a:p/>
          <a:p>
            <a:r>
              <a:t>Показать: формулу, затем таблицу «Ближайшие продления в горизонте» — 4 строки,</a:t>
            </a:r>
          </a:p>
          <a:p>
            <a:r>
              <a:t>и три итоговые метрики внизу.</a:t>
            </a:r>
          </a:p>
          <a:p>
            <a:r>
              <a:t>Возможный вопрос: «Почему сумма такая маленькая?» — Потому что горизонт 30 дней,</a:t>
            </a:r>
          </a:p>
          <a:p>
            <a:r>
              <a:t>и в него попадают 4 продления из 30 услуг. Это честная оценка по доступным полям,</a:t>
            </a:r>
          </a:p>
          <a:p>
            <a:r>
              <a:t>а не бухгалтерский прогноз: календаря будущих списаний в снимке нет.</a:t>
            </a:r>
          </a:p>
          <a:p>
            <a:r>
              <a:t>Переход: «Теперь проверим гипотезу: изменим вес фактора.»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 сказать (60 сек):</a:t>
            </a:r>
          </a:p>
          <a:p>
            <a:r>
              <a:t>«Сначала формулируем ожидание: усилим фактор «близость даты окончания» с трёх</a:t>
            </a:r>
          </a:p>
          <a:p>
            <a:r>
              <a:t>до девяти. Гипотеза — баллы вырастут, клиентов высокого риска станет больше.</a:t>
            </a:r>
          </a:p>
          <a:p>
            <a:r>
              <a:t>Идём в настройки модели, меняем вес, нажимаем «Сохранить».</a:t>
            </a:r>
          </a:p>
          <a:p>
            <a:r>
              <a:t>Смотрите, что произошло. Балл клиента #10: 71,4 → 81,8. Услуг высокого риска:</a:t>
            </a:r>
          </a:p>
          <a:p>
            <a:r>
              <a:t>4 → 7. Выручка под риском: 5,80 → 7,72 €. Категории клиентов при этом не сдвинулись —</a:t>
            </a:r>
          </a:p>
          <a:p>
            <a:r>
              <a:t>это тоже честный результат, и его стоит показать.</a:t>
            </a:r>
          </a:p>
          <a:p>
            <a:r>
              <a:t>Это не декоративный контрол: настройка уходит на сервер, сохраняется в базе и</a:t>
            </a:r>
          </a:p>
          <a:p>
            <a:r>
              <a:t>пересчитывает всю аналитику. Кнопка «Значения по умолчанию» возвращает исходные числа.»</a:t>
            </a:r>
          </a:p>
          <a:p/>
          <a:p>
            <a:r>
              <a:t>Показать: /settings → поле веса expiry_proximity 3 → 9 → «Сохранить». Сводка в шапке</a:t>
            </a:r>
          </a:p>
          <a:p>
            <a:r>
              <a:t>обновляется на месте, без перезагрузки: услуг высокого риска 4 → 7, выручка</a:t>
            </a:r>
          </a:p>
          <a:p>
            <a:r>
              <a:t>под риском 5,80 → 7,72 €, сумма весов 13,0 → 19,0. Затем открыть карточку клиента #10</a:t>
            </a:r>
          </a:p>
          <a:p>
            <a:r>
              <a:t>(балл 81,8) и вернуться</a:t>
            </a:r>
          </a:p>
          <a:p>
            <a:r>
              <a:t>в настройки, нажав «Значения по умолчанию».</a:t>
            </a:r>
          </a:p>
          <a:p>
            <a:r>
              <a:t>Возможный вопрос: «Пересчёт автоматический?» — Да. Настройки сохраняются на сервере,</a:t>
            </a:r>
          </a:p>
          <a:p>
            <a:r>
              <a:t>бэкенд пересчитывает всю аналитику, и интерфейс подтягивает новые значения сразу,</a:t>
            </a:r>
          </a:p>
          <a:p>
            <a:r>
              <a:t>без ручной перезагрузки. Проверено на стенде: страница настроек остаётся открытой,</a:t>
            </a:r>
          </a:p>
          <a:p>
            <a:r>
              <a:t>URL не меняется, числа в сводке обновляются сами.</a:t>
            </a:r>
          </a:p>
          <a:p>
            <a:r>
              <a:t>Переход: «Что это даёт команде Aéza.»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 сказать (35 сек):</a:t>
            </a:r>
          </a:p>
          <a:p>
            <a:r>
              <a:t>«Что получает аналитик Aéza: приоритизированный список вместо ручного просмотра,</a:t>
            </a:r>
          </a:p>
          <a:p>
            <a:r>
              <a:t>объяснение вместо непрозрачного числа, денежную оценку отдельно от баланса и</a:t>
            </a:r>
          </a:p>
          <a:p>
            <a:r>
              <a:t>возможность проверить гипотезу, поменяв веса.</a:t>
            </a:r>
          </a:p>
          <a:p>
            <a:r>
              <a:t>И сразу честно про границы: балл — не вероятность в процентах, точность мы не</a:t>
            </a:r>
          </a:p>
          <a:p>
            <a:r>
              <a:t>измеряли, потому что в снимке нет истории уходов. Мы не обещаем снижение оттока —</a:t>
            </a:r>
          </a:p>
          <a:p>
            <a:r>
              <a:t>мы даём инструмент для решения.»</a:t>
            </a:r>
          </a:p>
          <a:p/>
          <a:p>
            <a:r>
              <a:t>Показать: четыре карточки, затем нижний блок ограничений — его проговариваем</a:t>
            </a:r>
          </a:p>
          <a:p>
            <a:r>
              <a:t>обязательно, это сильный ход перед бизнес-заказчиком.</a:t>
            </a:r>
          </a:p>
          <a:p>
            <a:r>
              <a:t>Возможный вопрос: «Какая точность модели?» — Не измерена и не заявлена. В данных</a:t>
            </a:r>
          </a:p>
          <a:p>
            <a:r>
              <a:t>нет исходов оттока, обучать и валидировать классификатор не на чем.</a:t>
            </a:r>
          </a:p>
          <a:p>
            <a:r>
              <a:t>Переход: «Коротко про то, как это устроено внутри.»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 сказать (30 сек, при технически подкованном заказчике):</a:t>
            </a:r>
          </a:p>
          <a:p>
            <a:r>
              <a:t>«Путь данных короткий: снимок Aéza проходит валидацию целиком до записи и</a:t>
            </a:r>
          </a:p>
          <a:p>
            <a:r>
              <a:t>применяется атомарно, скоринг живёт в одном модуле, результат уходит в API и в панель.</a:t>
            </a:r>
          </a:p>
          <a:p>
            <a:r>
              <a:t>Отдельно про пропуски: отсутствующий сигнал не превращается в ноль и не понижает</a:t>
            </a:r>
          </a:p>
          <a:p>
            <a:r>
              <a:t>риск — фактор просто исключается, а веса перенормируются.</a:t>
            </a:r>
          </a:p>
          <a:p>
            <a:r>
              <a:t>И про границы: истории уходов нет, календаря списаний нет, динамики нет, нагрузку</a:t>
            </a:r>
          </a:p>
          <a:p>
            <a:r>
              <a:t>на больших объёмах мы не измеряли.»</a:t>
            </a:r>
          </a:p>
          <a:p/>
          <a:p>
            <a:r>
              <a:t>Показать: цепочку, затем два блока ограничений. Не читать всё вслух — выбрать 2–3 пункта.</a:t>
            </a:r>
          </a:p>
          <a:p>
            <a:r>
              <a:t>Возможный вопрос: «Что будет на 10 000 клиентов?» — Список пагинируется, фильтры и</a:t>
            </a:r>
          </a:p>
          <a:p>
            <a:r>
              <a:t>сортировка выполняются в SQL, а не в браузере. Нагрузочного тестирования не проводили —</a:t>
            </a:r>
          </a:p>
          <a:p>
            <a:r>
              <a:t>говорим честно.</a:t>
            </a:r>
          </a:p>
          <a:p>
            <a:r>
              <a:t>Переход: «Финальный слайд.»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 сказать (20 сек):</a:t>
            </a:r>
          </a:p>
          <a:p>
            <a:r>
              <a:t>«Мы не обещаем автоматического удержания. Мы даём команде возможность увидеть риск</a:t>
            </a:r>
          </a:p>
          <a:p>
            <a:r>
              <a:t>раньше и действовать до того, как клиент уйдёт.</a:t>
            </a:r>
          </a:p>
          <a:p>
            <a:r>
              <a:t>Предлагаем следующий шаг: вместе проверить модель на данных Aéza и понять, какие</a:t>
            </a:r>
          </a:p>
          <a:p>
            <a:r>
              <a:t>сигналы действительно полезны вашей команде удержания. Спасибо.»</a:t>
            </a:r>
          </a:p>
          <a:p/>
          <a:p>
            <a:r>
              <a:t>ПЕРЕД ЗАЩИТОЙ: подставить название команды, имена и роли, контакт; заменить два</a:t>
            </a:r>
          </a:p>
          <a:p>
            <a:r>
              <a:t>QR-блока-заглушки (демо и контакты) на реальные ссылки. QR GitHub уже настоящий:</a:t>
            </a:r>
          </a:p>
          <a:p>
            <a:r>
              <a:t>он закодирован из адреса публичного репозитория и проверен декодированием,</a:t>
            </a:r>
          </a:p>
          <a:p>
            <a:r>
              <a:t>заменяйте только если репозиторий переедет.</a:t>
            </a:r>
          </a:p>
          <a:p>
            <a:r>
              <a:t>Возможный вопрос: «Что дальше по продукту?» — Когда появятся исторические исходы,</a:t>
            </a:r>
          </a:p>
          <a:p>
            <a:r>
              <a:t>логистическая регрессия на тех же признаках заменит формулу без изменения контракта</a:t>
            </a:r>
          </a:p>
          <a:p>
            <a:r>
              <a:t>API и интерфейса.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3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45575" y="0"/>
            <a:ext cx="3246120" cy="6858000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945575" y="0"/>
            <a:ext cx="41148" cy="6858000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eza_logo_on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30352"/>
            <a:ext cx="1280160" cy="3057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060704"/>
            <a:ext cx="7498079" cy="1729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3CDB7"/>
                </a:solidFill>
                <a:latin typeface="Manrope"/>
                <a:cs typeface="Manrope"/>
                <a:ea typeface="Manrope"/>
              </a:rPr>
              <a:t>UMIRHACK 2026 · КЕЙС AÉZA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00784"/>
            <a:ext cx="7863840" cy="577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Manrope"/>
                <a:cs typeface="Manrope"/>
                <a:ea typeface="Manrope"/>
              </a:rPr>
              <a:t>Увидеть риск оттока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32736"/>
            <a:ext cx="7863840" cy="577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6B00"/>
                </a:solidFill>
                <a:latin typeface="Manrope"/>
                <a:cs typeface="Manrope"/>
                <a:ea typeface="Manrope"/>
              </a:rPr>
              <a:t>раньше, чем клиент уйдёт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822191"/>
            <a:ext cx="7223760" cy="549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C9C9C9"/>
                </a:solidFill>
                <a:latin typeface="Manrope"/>
                <a:cs typeface="Manrope"/>
                <a:ea typeface="Manrope"/>
              </a:rPr>
              <a:t>Aéza Analyzer — инструмент для поиска клиентов под риском, объяснения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C9C9C9"/>
                </a:solidFill>
                <a:latin typeface="Manrope"/>
                <a:cs typeface="Manrope"/>
                <a:ea typeface="Manrope"/>
              </a:rPr>
              <a:t>причин и оценки потенциальных потерь.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4882896"/>
            <a:ext cx="722376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5065776"/>
            <a:ext cx="3840480" cy="1582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E8E8E"/>
                </a:solidFill>
                <a:latin typeface="Manrope"/>
                <a:cs typeface="Manrope"/>
                <a:ea typeface="Manrope"/>
              </a:rPr>
              <a:t>КОМАНДА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303520"/>
            <a:ext cx="4572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anrope SemiBold"/>
                <a:cs typeface="Manrope SemiBold"/>
                <a:ea typeface="Manrope SemiBold"/>
              </a:rPr>
              <a:t>[НАЗВАНИЕ КОМАНДЫ]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650992"/>
            <a:ext cx="4937760" cy="1916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E8E8E"/>
                </a:solidFill>
                <a:latin typeface="Manrope"/>
                <a:cs typeface="Manrope"/>
                <a:ea typeface="Manrope"/>
              </a:rPr>
              <a:t>[ИМЯ УЧАСТНИКА 1] · [ИМЯ УЧАСТНИКА 2] · [ИМЯ УЧАСТНИКА 3]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089904"/>
            <a:ext cx="5120640" cy="140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ЗАПОЛНИТЬ ПЕРЕД ЗАЩИТОЙ · команда и QR-ссылки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04527" y="1883664"/>
            <a:ext cx="1737360" cy="1508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E8E8E"/>
                </a:solidFill>
                <a:latin typeface="Manrope"/>
                <a:cs typeface="Manrope"/>
                <a:ea typeface="Manrope"/>
              </a:rPr>
              <a:t>ССЫЛКИ ДЛЯ ЖЮРИ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704527" y="2231136"/>
            <a:ext cx="1426464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2C9D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[ВСТАВИТЬ QR]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13087" y="3712464"/>
            <a:ext cx="16093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[QR-КОД: ДЕМО]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704527" y="4041648"/>
            <a:ext cx="1426464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2C9D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[ВСТАВИТЬ QR]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13087" y="5522976"/>
            <a:ext cx="16093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[QR-КОД: GITHUB]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48640"/>
            <a:ext cx="1087495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40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БИЗНЕС-ПРОБЛЕМА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95528"/>
            <a:ext cx="10874959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Manrope"/>
                <a:cs typeface="Manrope"/>
                <a:ea typeface="Manrope"/>
              </a:rPr>
              <a:t>Сигналы разрознены — риск остаётся незаметным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44168"/>
            <a:ext cx="10058400" cy="473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Клиент продолжает пользоваться услугой, но отдельные признаки уже говорят о риске. По одному статусу и общей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выручке этого не увидеть.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091944"/>
            <a:ext cx="3442106" cy="1755648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091944"/>
            <a:ext cx="3442106" cy="41148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0392" y="2357120"/>
            <a:ext cx="274320" cy="274320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anrope"/>
                <a:cs typeface="Manrope"/>
                <a:ea typeface="Manrope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750312"/>
            <a:ext cx="3039770" cy="224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Разрозненные сигналы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038856"/>
            <a:ext cx="3039770" cy="5383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Дата окончания, автопродление, неуспешные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продления, статус услуги — каждое поле живёт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отдельно.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150766" y="2823464"/>
            <a:ext cx="173736" cy="237744"/>
          </a:xfrm>
          <a:prstGeom prst="rightArrow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4794" y="2091944"/>
            <a:ext cx="3442106" cy="1755648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4794" y="2091944"/>
            <a:ext cx="3442106" cy="41148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66818" y="2357120"/>
            <a:ext cx="274320" cy="274320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anrope"/>
                <a:cs typeface="Manrope"/>
                <a:ea typeface="Manrope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5962" y="2750312"/>
            <a:ext cx="3039770" cy="224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Риск остаётся незаметным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5962" y="3038856"/>
            <a:ext cx="3039770" cy="5383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В общем списке клиентов нет приоритета: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проблемный аккаунт выглядит так же, как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здоровый.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867192" y="2823464"/>
            <a:ext cx="173736" cy="237744"/>
          </a:xfrm>
          <a:prstGeom prst="rightArrow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1220" y="2091944"/>
            <a:ext cx="3442106" cy="1755648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1220" y="2091944"/>
            <a:ext cx="3442106" cy="41148"/>
          </a:xfrm>
          <a:prstGeom prst="rect">
            <a:avLst/>
          </a:prstGeom>
          <a:solidFill>
            <a:srgbClr val="B8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83244" y="2357120"/>
            <a:ext cx="274320" cy="274320"/>
          </a:xfrm>
          <a:prstGeom prst="ellipse">
            <a:avLst/>
          </a:prstGeom>
          <a:solidFill>
            <a:srgbClr val="B8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anrope"/>
                <a:cs typeface="Manrope"/>
                <a:ea typeface="Manrope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2388" y="2750312"/>
            <a:ext cx="3039770" cy="224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Поздняя реакция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2388" y="3038856"/>
            <a:ext cx="3039770" cy="5383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Разбираются, когда услуга уже истекла. Причины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не собраны в одном месте, поэтому действовать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заранее не с чем.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121912"/>
            <a:ext cx="10874959" cy="1517904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4359656"/>
            <a:ext cx="2834640" cy="2024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Сигналы риска в снимке Aéza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4652264"/>
            <a:ext cx="2834640" cy="4888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Прямой подсчёт по 30 услугам датасета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организатора; одна услуга может попасть в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несколько категорий.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68496" y="4432808"/>
            <a:ext cx="1636775" cy="3357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68496" y="4821047"/>
            <a:ext cx="1636775" cy="1630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близость даты окончания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42431" y="4432808"/>
            <a:ext cx="9525" cy="896112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24727" y="4432808"/>
            <a:ext cx="1636775" cy="3357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24727" y="4821047"/>
            <a:ext cx="1636775" cy="1630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автопродление отключено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98662" y="4432808"/>
            <a:ext cx="9525" cy="896112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58" y="4432808"/>
            <a:ext cx="1636775" cy="3357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58" y="4821047"/>
            <a:ext cx="1636775" cy="1630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услуга приостановлена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454893" y="4432808"/>
            <a:ext cx="9525" cy="896112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37189" y="4432808"/>
            <a:ext cx="1636775" cy="3357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89" y="4821047"/>
            <a:ext cx="1636775" cy="1630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ожидание продления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6217920"/>
            <a:ext cx="10874959" cy="9525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74959" cy="1630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Источник: Aéza Analyzer, блок «Основные причины риска», опорный момент 2026-10-19 15:00 UTC. Набор кейса синтетический.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48640"/>
            <a:ext cx="1087495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40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НАШЕ РЕШЕНИЕ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95528"/>
            <a:ext cx="10874959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Manrope"/>
                <a:cs typeface="Manrope"/>
                <a:ea typeface="Manrope"/>
              </a:rPr>
              <a:t>Один экран: приоритет, причина, деньги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4416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Aéza Analyzer ранжирует клиентов по риску, объясняет каждую оценку наблюдаемыми сигналами и считает выручку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под риском отдельно от баланса.</a:t>
            </a:r>
          </a:p>
        </p:txBody>
      </p:sp>
      <p:sp>
        <p:nvSpPr>
          <p:cNvPr id="6" name="Oval 5"/>
          <p:cNvSpPr/>
          <p:nvPr/>
        </p:nvSpPr>
        <p:spPr>
          <a:xfrm>
            <a:off x="667512" y="2084832"/>
            <a:ext cx="274320" cy="274320"/>
          </a:xfrm>
          <a:prstGeom prst="ellipse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anrope"/>
                <a:cs typeface="Manrope"/>
                <a:ea typeface="Manrop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057400"/>
            <a:ext cx="2334691" cy="18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Список клиентов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258568"/>
            <a:ext cx="2334691" cy="295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сортировка по риску, фильтр по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категории</a:t>
            </a:r>
          </a:p>
        </p:txBody>
      </p:sp>
      <p:sp>
        <p:nvSpPr>
          <p:cNvPr id="9" name="Oval 8"/>
          <p:cNvSpPr/>
          <p:nvPr/>
        </p:nvSpPr>
        <p:spPr>
          <a:xfrm>
            <a:off x="3386251" y="2084832"/>
            <a:ext cx="274320" cy="274320"/>
          </a:xfrm>
          <a:prstGeom prst="ellipse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anrope"/>
                <a:cs typeface="Manrope"/>
                <a:ea typeface="Manrop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6291" y="2057400"/>
            <a:ext cx="2334691" cy="18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Балл риска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6291" y="2258568"/>
            <a:ext cx="2334691" cy="1570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0–100 и категория в карточке клиента</a:t>
            </a:r>
          </a:p>
        </p:txBody>
      </p:sp>
      <p:sp>
        <p:nvSpPr>
          <p:cNvPr id="12" name="Oval 11"/>
          <p:cNvSpPr/>
          <p:nvPr/>
        </p:nvSpPr>
        <p:spPr>
          <a:xfrm>
            <a:off x="6104990" y="2084832"/>
            <a:ext cx="274320" cy="274320"/>
          </a:xfrm>
          <a:prstGeom prst="ellipse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anrope"/>
                <a:cs typeface="Manrope"/>
                <a:ea typeface="Manrope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5030" y="2057400"/>
            <a:ext cx="2334691" cy="18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Причины оценки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5030" y="2258568"/>
            <a:ext cx="2334691" cy="1570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каждый фактор с числом и вкладом</a:t>
            </a:r>
          </a:p>
        </p:txBody>
      </p:sp>
      <p:sp>
        <p:nvSpPr>
          <p:cNvPr id="15" name="Oval 14"/>
          <p:cNvSpPr/>
          <p:nvPr/>
        </p:nvSpPr>
        <p:spPr>
          <a:xfrm>
            <a:off x="8823729" y="2084832"/>
            <a:ext cx="274320" cy="274320"/>
          </a:xfrm>
          <a:prstGeom prst="ellipse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anrope"/>
                <a:cs typeface="Manrope"/>
                <a:ea typeface="Manrope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3769" y="2057400"/>
            <a:ext cx="2334691" cy="18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Настройки модели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3769" y="2258568"/>
            <a:ext cx="2334691" cy="1570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веса, горизонт и пороги · /settings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807208"/>
            <a:ext cx="6492240" cy="1510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РЕАЛЬНЫЙ ИНТЕРФЕЙС · СПИСОК КЛИЕНТОВ ПО РИСКУ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" y="3012948"/>
            <a:ext cx="6556248" cy="2713637"/>
          </a:xfrm>
          <a:prstGeom prst="rect">
            <a:avLst/>
          </a:prstGeom>
          <a:solidFill>
            <a:srgbClr val="FFFFFF"/>
          </a:solidFill>
          <a:ln w="1016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ust_table_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044952"/>
            <a:ext cx="6492240" cy="264962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58368" y="5804309"/>
            <a:ext cx="6492240" cy="180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Все 10 клиентов снимка отсортированы по риску: балл, уровень и выручка под риском в одной строке.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4928" y="2807208"/>
            <a:ext cx="4108399" cy="1510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СВОДКА ПО БАЗЕ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92924" y="3012948"/>
            <a:ext cx="4172407" cy="1350834"/>
          </a:xfrm>
          <a:prstGeom prst="rect">
            <a:avLst/>
          </a:prstGeom>
          <a:solidFill>
            <a:srgbClr val="FFFFFF"/>
          </a:solidFill>
          <a:ln w="1016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w_dash_metrics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4928" y="3044952"/>
            <a:ext cx="4108399" cy="128682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7392924" y="4500942"/>
            <a:ext cx="4172407" cy="1173747"/>
          </a:xfrm>
          <a:prstGeom prst="rect">
            <a:avLst/>
          </a:prstGeom>
          <a:solidFill>
            <a:srgbClr val="FFFFFF"/>
          </a:solidFill>
          <a:ln w="1016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w_dash_reaso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4928" y="4532946"/>
            <a:ext cx="4108399" cy="110973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424928" y="5752413"/>
            <a:ext cx="4108399" cy="343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Сводка — по всем клиентам; причины риска — прямой подсчёт по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услугам.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48640"/>
            <a:ext cx="1087495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40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СКВОЗНОЙ СЦЕНАРИЙ · ШАГ 1–2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95528"/>
            <a:ext cx="10874959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Manrope"/>
                <a:cs typeface="Manrope"/>
                <a:ea typeface="Manrope"/>
              </a:rPr>
              <a:t>Клиент #10 — высокий риск, 71,4 из 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4416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Список отсортирован по риску по убыванию. Балл 71,4 делят клиенты #5 и #10 — берём #10, он выше по номеру.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Слева — реальные поля снимка, справа — тот же клиент в интерфейсе.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075688"/>
            <a:ext cx="3840480" cy="3977640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295144"/>
            <a:ext cx="3364992" cy="2392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user-0010@example.test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569464"/>
            <a:ext cx="3364992" cy="165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Клиент #10 · 3 услуги, все 3 пригодны для прогноза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2862072"/>
            <a:ext cx="1078992" cy="274320"/>
          </a:xfrm>
          <a:prstGeom prst="roundRect">
            <a:avLst>
              <a:gd name="adj" fmla="val 32000"/>
            </a:avLst>
          </a:prstGeom>
          <a:solidFill>
            <a:srgbClr val="B8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anrope SemiBold"/>
                <a:cs typeface="Manrope SemiBold"/>
                <a:ea typeface="Manrope SemiBold"/>
              </a:rPr>
              <a:t>ВЫСОКИЙ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355848"/>
            <a:ext cx="3364992" cy="1383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Балл риска клиента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511296"/>
            <a:ext cx="3364992" cy="2138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84A00"/>
                </a:solidFill>
                <a:latin typeface="Manrope SemiBold"/>
                <a:cs typeface="Manrope SemiBold"/>
                <a:ea typeface="Manrope SemiBold"/>
              </a:rPr>
              <a:t>71,4 / 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844036"/>
            <a:ext cx="3364992" cy="1383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Категория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999484"/>
            <a:ext cx="3364992" cy="18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Manrope Medium"/>
                <a:cs typeface="Manrope Medium"/>
                <a:ea typeface="Manrope Medium"/>
              </a:rPr>
              <a:t>Высокий (порог ≥ 65)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4304284"/>
            <a:ext cx="3364992" cy="1383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Услуг высокого риска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459732"/>
            <a:ext cx="3364992" cy="18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Manrope Medium"/>
                <a:cs typeface="Manrope Medium"/>
                <a:ea typeface="Manrope Medium"/>
              </a:rPr>
              <a:t>2 из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764532"/>
            <a:ext cx="3364992" cy="1383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Выручка под риском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4919980"/>
            <a:ext cx="3364992" cy="18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66666"/>
                </a:solidFill>
                <a:latin typeface="Manrope Medium"/>
                <a:cs typeface="Manrope Medium"/>
                <a:ea typeface="Manrope Medium"/>
              </a:rPr>
              <a:t>0,00 € — сроки уже прошли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224780"/>
            <a:ext cx="3364992" cy="1383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Баланс / всего пополнено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5380228"/>
            <a:ext cx="3364992" cy="18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Manrope Medium"/>
                <a:cs typeface="Manrope Medium"/>
                <a:ea typeface="Manrope Medium"/>
              </a:rPr>
              <a:t>203,79 € / 4 206,69 €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91456" y="2048256"/>
            <a:ext cx="6741871" cy="1510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РЕАЛЬНЫЙ ИНТЕРФЕЙС · КАРТОЧКА КЛИЕНТА #10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9452" y="2263140"/>
            <a:ext cx="6805879" cy="413652"/>
          </a:xfrm>
          <a:prstGeom prst="rect">
            <a:avLst/>
          </a:prstGeom>
          <a:solidFill>
            <a:srgbClr val="FFFFFF"/>
          </a:solidFill>
          <a:ln w="1016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10_page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6" y="2295144"/>
            <a:ext cx="6741871" cy="349644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4759452" y="2722512"/>
            <a:ext cx="3361791" cy="1268967"/>
          </a:xfrm>
          <a:prstGeom prst="rect">
            <a:avLst/>
          </a:prstGeom>
          <a:solidFill>
            <a:srgbClr val="FFFFFF"/>
          </a:solidFill>
          <a:ln w="1016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m_c10_sc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456" y="2754516"/>
            <a:ext cx="3297783" cy="1204959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8203539" y="2722512"/>
            <a:ext cx="3361791" cy="1268967"/>
          </a:xfrm>
          <a:prstGeom prst="rect">
            <a:avLst/>
          </a:prstGeom>
          <a:solidFill>
            <a:srgbClr val="FFFFFF"/>
          </a:solidFill>
          <a:ln w="1016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m_c10_re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5543" y="2754516"/>
            <a:ext cx="3297783" cy="120495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791456" y="4197219"/>
            <a:ext cx="6741871" cy="1510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ПРИЧИНЫ ОЦЕНКИ ПО УСЛУГЕ service-0030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59452" y="4412103"/>
            <a:ext cx="6805879" cy="1355554"/>
          </a:xfrm>
          <a:prstGeom prst="rect">
            <a:avLst/>
          </a:prstGeom>
          <a:solidFill>
            <a:srgbClr val="FFFFFF"/>
          </a:solidFill>
          <a:ln w="1016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w_c10_reas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1456" y="4444107"/>
            <a:ext cx="6741871" cy="129154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791456" y="5845381"/>
            <a:ext cx="6741871" cy="3649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Почему именно этот клиент: максимальный балл в списке, услуга просрочена на 35 дней, ожидает продления,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автопродление отключено.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6217920"/>
            <a:ext cx="10874959" cy="9525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6355080"/>
            <a:ext cx="10874959" cy="1630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Опорный момент 2026-10-19 15:00 UTC. Данные: dataset/data.json (10 аккаунтов / 30 услуг / 100 транзакций). Балл риска — не вероятность оттока.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48640"/>
            <a:ext cx="1087495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40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ПОЧЕМУ МОДЕЛЬ СЧИТАЕТ КЛИЕНТА РИСКОВАННЫМ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95528"/>
            <a:ext cx="10874959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Manrope"/>
                <a:cs typeface="Manrope"/>
                <a:ea typeface="Manrope"/>
              </a:rPr>
              <a:t>Балл объясним: видно каждый вклад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44168"/>
            <a:ext cx="10058400" cy="440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Формула: 100 × Σ(вес × значение) / Σвес. По service-0030 сумма вкладов 7,50 при сумме весов 10,5 → 71,4. Ниже — фактические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вклады из интерфейса.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059432"/>
            <a:ext cx="5989320" cy="3993896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2242312"/>
            <a:ext cx="5550408" cy="2024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Вклад факторов в балл 71,4 · service-0030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822960" y="2571496"/>
          <a:ext cx="5660136" cy="29331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77824" y="5577840"/>
            <a:ext cx="5550408" cy="297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Не показаны: доля неуспешных продлений и число неуспешных продлений — за 90 дней попыток не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было, фактор не определён и в знаменатель не входит.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22008" y="2059432"/>
            <a:ext cx="4611319" cy="1249002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22008" y="2059432"/>
            <a:ext cx="41148" cy="1249002"/>
          </a:xfrm>
          <a:prstGeom prst="rect">
            <a:avLst/>
          </a:prstGeom>
          <a:solidFill>
            <a:srgbClr val="83CD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23176" y="2214880"/>
            <a:ext cx="4208983" cy="18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Наблюдение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23176" y="2455672"/>
            <a:ext cx="4208983" cy="343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Данные снимка: услуга истекла 35 дней назад, autoProlong = false,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статус prolong_wait.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22008" y="3431878"/>
            <a:ext cx="4611319" cy="1249002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22008" y="3431878"/>
            <a:ext cx="41148" cy="1249002"/>
          </a:xfrm>
          <a:prstGeom prst="rect">
            <a:avLst/>
          </a:prstGeom>
          <a:solidFill>
            <a:srgbClr val="83CD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23176" y="3587326"/>
            <a:ext cx="4208983" cy="18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Интерпретация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23176" y="3828118"/>
            <a:ext cx="4208983" cy="343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Услуга просрочена и ждёт продления, а решение о продлении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зависит от клиента, потому что автопродление выключено.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22008" y="4804324"/>
            <a:ext cx="4611319" cy="1249002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22008" y="4804324"/>
            <a:ext cx="41148" cy="1249002"/>
          </a:xfrm>
          <a:prstGeom prst="rect">
            <a:avLst/>
          </a:prstGeom>
          <a:solidFill>
            <a:srgbClr val="B8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23176" y="4959772"/>
            <a:ext cx="4208983" cy="18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Влияние на оценку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23176" y="5200564"/>
            <a:ext cx="4208983" cy="668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Три сработавших фактора дают 3,0 + 2,5 + 2,0 = 7,5. Остальные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четыре либо равны нулю, либо не определены (нет попыток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продления за 90 дней) и в знаменатель не входят: 100 × 7,5 / 10,5 =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71,4 — выше порога 65.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6217920"/>
            <a:ext cx="10874959" cy="9525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6355080"/>
            <a:ext cx="10874959" cy="307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Факторы: expiry_proximity, prolong_wait_status, auto_prolong_disabled, failed_renewals, renewal_failure_rate, insufficient_balance, suspended_status. Причинно-следственная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связь не доказана: исторических исходов оттока в снимке нет.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48640"/>
            <a:ext cx="1087495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40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ДЕНЕЖНАЯ ОЦЕНКА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95528"/>
            <a:ext cx="10874959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Manrope"/>
                <a:cs typeface="Manrope"/>
                <a:ea typeface="Manrope"/>
              </a:rPr>
              <a:t>Риск и деньги — разные величины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4416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Выручка под риском = стоимость продления × балл риска / 100, и только для открытых услуг с продлением внутри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горизонта.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075688"/>
            <a:ext cx="10874959" cy="768096"/>
          </a:xfrm>
          <a:prstGeom prst="rect">
            <a:avLst/>
          </a:prstGeom>
          <a:solidFill>
            <a:srgbClr val="1313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212848"/>
            <a:ext cx="65836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C9C9"/>
                </a:solidFill>
                <a:latin typeface="Manrope Medium"/>
                <a:cs typeface="Manrope Medium"/>
                <a:ea typeface="Manrope Medium"/>
              </a:rPr>
              <a:t>выручка под риском  </a:t>
            </a:r>
            <a:r>
              <a:rPr sz="1500" b="1">
                <a:solidFill>
                  <a:srgbClr val="FFFFFF"/>
                </a:solidFill>
                <a:latin typeface="Manrope SemiBold"/>
                <a:cs typeface="Manrope SemiBold"/>
                <a:ea typeface="Manrope SemiBold"/>
              </a:rPr>
              <a:t>=  стоимость продления × балл риска / 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65008" y="2295144"/>
            <a:ext cx="3193999" cy="1706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3CDB7"/>
                </a:solidFill>
                <a:latin typeface="Manrope Medium"/>
                <a:cs typeface="Manrope Medium"/>
                <a:ea typeface="Manrope Medium"/>
              </a:rPr>
              <a:t>Баланс в формулу не входит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3118104"/>
            <a:ext cx="3977639" cy="2935224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3319272"/>
            <a:ext cx="3538727" cy="359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Клиент #10 — высокий риск, но 0,00 € под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риском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703320"/>
            <a:ext cx="3538727" cy="131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БАЛЛ РИСКА КЛИЕНТА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858768"/>
            <a:ext cx="3538727" cy="232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B84A00"/>
                </a:solidFill>
                <a:latin typeface="Manrope SemiBold"/>
                <a:cs typeface="Manrope SemiBold"/>
                <a:ea typeface="Manrope SemiBold"/>
              </a:rPr>
              <a:t>71,4 / 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4237672"/>
            <a:ext cx="3538727" cy="131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ВЫРУЧКА ПОД РИСКОМ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4393120"/>
            <a:ext cx="3538727" cy="232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0,00 €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772024"/>
            <a:ext cx="3538727" cy="131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ПОЧЕМУ НОЛЬ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4927472"/>
            <a:ext cx="3538727" cy="16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Сроки уже прошли — горизонт смотрит вперёд.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5242876"/>
            <a:ext cx="3538727" cy="131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БАЛАНС — НЕ ВЫРУЧКА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398324"/>
            <a:ext cx="3538727" cy="232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203,79 €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5777228"/>
            <a:ext cx="3538727" cy="131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ВСЕГО ПОПОЛНЕНО — СПРАВОЧНО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5932676"/>
            <a:ext cx="3538727" cy="232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4 206,69 €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10327" y="3090672"/>
            <a:ext cx="6623000" cy="1510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РЕАЛЬНЫЙ ИНТЕРФЕЙС · БЛИЖАЙШИЕ ПРОДЛЕНИЯ В ГОРИЗОНТЕ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78323" y="3323844"/>
            <a:ext cx="6687008" cy="1948137"/>
          </a:xfrm>
          <a:prstGeom prst="rect">
            <a:avLst/>
          </a:prstGeom>
          <a:solidFill>
            <a:srgbClr val="FFFFFF"/>
          </a:solidFill>
          <a:ln w="1016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renew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7" y="3355848"/>
            <a:ext cx="6623000" cy="1884129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910327" y="5477721"/>
            <a:ext cx="2134514" cy="575607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38343" y="5605737"/>
            <a:ext cx="1878482" cy="130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ВЫРУЧКА ПОД РИСКОМ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38343" y="5843481"/>
            <a:ext cx="1878482" cy="2214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5,80 €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38343" y="6154377"/>
            <a:ext cx="1878482" cy="1424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прогнозная экспозиция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54569" y="5477721"/>
            <a:ext cx="2134514" cy="575607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82585" y="5605737"/>
            <a:ext cx="1878482" cy="130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ПРЕДСТОЯЩИЕ ПРОДЛЕНИЯ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82585" y="5843481"/>
            <a:ext cx="1878482" cy="2214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Manrope"/>
                <a:cs typeface="Manrope"/>
                <a:ea typeface="Manrope"/>
              </a:rPr>
              <a:t>17,03 €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82585" y="6154377"/>
            <a:ext cx="1878482" cy="1424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сумма без учёта риска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398811" y="5477721"/>
            <a:ext cx="2134514" cy="575607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26827" y="5605737"/>
            <a:ext cx="1878482" cy="130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ИСТОРИЧЕСКИЕ ПОПОЛНЕНИЯ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26827" y="5843481"/>
            <a:ext cx="1878482" cy="2214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22 240,73 €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26827" y="6154377"/>
            <a:ext cx="1878482" cy="1424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справочно, не суммируется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6217920"/>
            <a:ext cx="10874959" cy="9525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74959" cy="307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Горизонт 30 дней. Четыре продления в горизонте стоят 0,95 + 2,34 + 5,47 + 8,27 = 17,03 €; из них под риском 0,36 + 0,70 + 1,81 + 2,93 = 5,80 €. Оценка не является гарантированным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прогнозом потерь.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48640"/>
            <a:ext cx="1087495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40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СКВОЗНОЙ СЦЕНАРИЙ · ШАГ 4–5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95528"/>
            <a:ext cx="10874959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Manrope"/>
                <a:cs typeface="Manrope"/>
                <a:ea typeface="Manrope"/>
              </a:rPr>
              <a:t>Меняем вес — результат пересчитывается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4416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Гипотеза до изменения: усилим «близость даты окончания» с 3,0 до 9,0 — баллы вырастут. Проверяем на реальном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интерфейсе.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075688"/>
            <a:ext cx="10874959" cy="420624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075688"/>
            <a:ext cx="41148" cy="420624"/>
          </a:xfrm>
          <a:prstGeom prst="rect">
            <a:avLst/>
          </a:prstGeom>
          <a:solidFill>
            <a:srgbClr val="B8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176272"/>
            <a:ext cx="1043604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ГИПОТЕЗА ДО ИЗМЕНЕНИЯ   </a:t>
            </a:r>
            <a:r>
              <a:rPr sz="1100" b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вес expiry_proximity 3,0 → 9,0 должен повысить баллы и число клиентов высокого риска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734056"/>
            <a:ext cx="5282031" cy="1510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ДО · ВЕС 3,0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1295" y="2734056"/>
            <a:ext cx="5282031" cy="1510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ПОСЛЕ · ВЕС 9,0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" y="2921508"/>
            <a:ext cx="5346039" cy="531102"/>
          </a:xfrm>
          <a:prstGeom prst="rect">
            <a:avLst/>
          </a:prstGeom>
          <a:solidFill>
            <a:srgbClr val="FFFFFF"/>
          </a:solidFill>
          <a:ln w="1016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_set_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953512"/>
            <a:ext cx="5282031" cy="467094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219291" y="2921508"/>
            <a:ext cx="5346039" cy="531102"/>
          </a:xfrm>
          <a:prstGeom prst="rect">
            <a:avLst/>
          </a:prstGeom>
          <a:solidFill>
            <a:srgbClr val="FFFFFF"/>
          </a:solidFill>
          <a:ln w="1016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t_set_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1295" y="2953512"/>
            <a:ext cx="3666512" cy="467094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58368" y="3977640"/>
            <a:ext cx="3533546" cy="640080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069080"/>
            <a:ext cx="3240938" cy="131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Балл риска клиента #10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4251960"/>
            <a:ext cx="324093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66666"/>
                </a:solidFill>
                <a:latin typeface="Manrope Medium"/>
                <a:cs typeface="Manrope Medium"/>
                <a:ea typeface="Manrope Medium"/>
              </a:rPr>
              <a:t>71,4</a:t>
            </a:r>
            <a:r>
              <a:rPr sz="1500" b="0">
                <a:solidFill>
                  <a:srgbClr val="C9C9C9"/>
                </a:solidFill>
                <a:latin typeface="Manrope Medium"/>
                <a:cs typeface="Manrope Medium"/>
                <a:ea typeface="Manrope Medium"/>
              </a:rPr>
              <a:t>   →   </a:t>
            </a:r>
            <a:r>
              <a:rPr sz="1500" b="1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81,8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9074" y="3977640"/>
            <a:ext cx="3533546" cy="640080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75378" y="4069080"/>
            <a:ext cx="3240938" cy="131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Балл service-0030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5378" y="4251960"/>
            <a:ext cx="324093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66666"/>
                </a:solidFill>
                <a:latin typeface="Manrope Medium"/>
                <a:cs typeface="Manrope Medium"/>
                <a:ea typeface="Manrope Medium"/>
              </a:rPr>
              <a:t>71,4</a:t>
            </a:r>
            <a:r>
              <a:rPr sz="1500" b="0">
                <a:solidFill>
                  <a:srgbClr val="C9C9C9"/>
                </a:solidFill>
                <a:latin typeface="Manrope Medium"/>
                <a:cs typeface="Manrope Medium"/>
                <a:ea typeface="Manrope Medium"/>
              </a:rPr>
              <a:t>   →   </a:t>
            </a:r>
            <a:r>
              <a:rPr sz="1500" b="1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81,8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99780" y="3977640"/>
            <a:ext cx="3533546" cy="640080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46084" y="4069080"/>
            <a:ext cx="3240938" cy="131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Услуг высокого риска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46084" y="4251960"/>
            <a:ext cx="324093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66666"/>
                </a:solidFill>
                <a:latin typeface="Manrope Medium"/>
                <a:cs typeface="Manrope Medium"/>
                <a:ea typeface="Manrope Medium"/>
              </a:rPr>
              <a:t>4</a:t>
            </a:r>
            <a:r>
              <a:rPr sz="1500" b="0">
                <a:solidFill>
                  <a:srgbClr val="C9C9C9"/>
                </a:solidFill>
                <a:latin typeface="Manrope Medium"/>
                <a:cs typeface="Manrope Medium"/>
                <a:ea typeface="Manrope Medium"/>
              </a:rPr>
              <a:t>   →   </a:t>
            </a:r>
            <a:r>
              <a:rPr sz="1500" b="1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4745736"/>
            <a:ext cx="3533546" cy="640080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4837176"/>
            <a:ext cx="3240938" cy="131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Выручка под риском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5020056"/>
            <a:ext cx="324093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66666"/>
                </a:solidFill>
                <a:latin typeface="Manrope Medium"/>
                <a:cs typeface="Manrope Medium"/>
                <a:ea typeface="Manrope Medium"/>
              </a:rPr>
              <a:t>5,80 €</a:t>
            </a:r>
            <a:r>
              <a:rPr sz="1500" b="0">
                <a:solidFill>
                  <a:srgbClr val="C9C9C9"/>
                </a:solidFill>
                <a:latin typeface="Manrope Medium"/>
                <a:cs typeface="Manrope Medium"/>
                <a:ea typeface="Manrope Medium"/>
              </a:rPr>
              <a:t>   →   </a:t>
            </a:r>
            <a:r>
              <a:rPr sz="1500" b="1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7,72 €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29074" y="4745736"/>
            <a:ext cx="3533546" cy="640080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75378" y="4837176"/>
            <a:ext cx="3240938" cy="131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Сумма весов по услуге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75378" y="5020056"/>
            <a:ext cx="324093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66666"/>
                </a:solidFill>
                <a:latin typeface="Manrope Medium"/>
                <a:cs typeface="Manrope Medium"/>
                <a:ea typeface="Manrope Medium"/>
              </a:rPr>
              <a:t>10,5</a:t>
            </a:r>
            <a:r>
              <a:rPr sz="1500" b="0">
                <a:solidFill>
                  <a:srgbClr val="C9C9C9"/>
                </a:solidFill>
                <a:latin typeface="Manrope Medium"/>
                <a:cs typeface="Manrope Medium"/>
                <a:ea typeface="Manrope Medium"/>
              </a:rPr>
              <a:t>   →   </a:t>
            </a:r>
            <a:r>
              <a:rPr sz="1500" b="1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16,5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99780" y="4745736"/>
            <a:ext cx="3533546" cy="640080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46084" y="4837176"/>
            <a:ext cx="3240938" cy="131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Сумма весов модели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46084" y="5020056"/>
            <a:ext cx="324093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66666"/>
                </a:solidFill>
                <a:latin typeface="Manrope Medium"/>
                <a:cs typeface="Manrope Medium"/>
                <a:ea typeface="Manrope Medium"/>
              </a:rPr>
              <a:t>13,0</a:t>
            </a:r>
            <a:r>
              <a:rPr sz="1500" b="0">
                <a:solidFill>
                  <a:srgbClr val="C9C9C9"/>
                </a:solidFill>
                <a:latin typeface="Manrope Medium"/>
                <a:cs typeface="Manrope Medium"/>
                <a:ea typeface="Manrope Medium"/>
              </a:rPr>
              <a:t>   →   </a:t>
            </a:r>
            <a:r>
              <a:rPr sz="1500" b="1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19,0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641848"/>
            <a:ext cx="10874959" cy="5383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Расчёт: по service-0030 сумма весов выросла с 10,5 до 16,5, вклад фактора — с 3,0 до 9,0, поэтому 100 × 13,5 / 16,5 = 81,8. Категории клиентов (3 высокий / 3 средний) не сдвинулись: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вес усилил сигналы, но не перевёл никого через порог. Настройка сохраняется на сервере, сводка обновляется сразу, без перезагрузки страницы; кнопка «Значения по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умолчанию» возвращает исходные 3,0 и прежние числа.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48640"/>
            <a:ext cx="1087495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40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РЕЗУЛЬТАТ ДЛЯ БИЗНЕСА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95528"/>
            <a:ext cx="10874959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Manrope"/>
                <a:cs typeface="Manrope"/>
                <a:ea typeface="Manrope"/>
              </a:rPr>
              <a:t>Команда видит, с кого начать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44168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Четыре подтверждённые возможности продукта — и то, что мы сознательно не заявляем.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56232"/>
            <a:ext cx="5300319" cy="969264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56232"/>
            <a:ext cx="41148" cy="969264"/>
          </a:xfrm>
          <a:prstGeom prst="rect">
            <a:avLst/>
          </a:prstGeom>
          <a:solidFill>
            <a:srgbClr val="83CD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002536"/>
            <a:ext cx="4843119" cy="1998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Приоритет вместо ручного просмотра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248154"/>
            <a:ext cx="4843119" cy="3649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Список отсортирован по риску, фильтр по категории оставляет только тех, кто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требует внимания.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1856232"/>
            <a:ext cx="5300319" cy="969264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3007" y="1856232"/>
            <a:ext cx="41148" cy="969264"/>
          </a:xfrm>
          <a:prstGeom prst="rect">
            <a:avLst/>
          </a:prstGeom>
          <a:solidFill>
            <a:srgbClr val="83CD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0751" y="2002536"/>
            <a:ext cx="4843119" cy="1998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Причина вместо непрозрачного числа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0751" y="2248154"/>
            <a:ext cx="4843119" cy="3649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Каждый балл разложен на факторы с числами из данных и рекомендациями по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удержанию.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990088"/>
            <a:ext cx="5300319" cy="969264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990088"/>
            <a:ext cx="41148" cy="969264"/>
          </a:xfrm>
          <a:prstGeom prst="rect">
            <a:avLst/>
          </a:prstGeom>
          <a:solidFill>
            <a:srgbClr val="83CD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3136392"/>
            <a:ext cx="4843119" cy="1998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Деньги отдельно от риска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3382010"/>
            <a:ext cx="4843119" cy="3649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Выручка под риском считается по продлениям внутри горизонта; баланс и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пополнения с ней не смешиваются.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2990088"/>
            <a:ext cx="5300319" cy="969264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3007" y="2990088"/>
            <a:ext cx="41148" cy="969264"/>
          </a:xfrm>
          <a:prstGeom prst="rect">
            <a:avLst/>
          </a:prstGeom>
          <a:solidFill>
            <a:srgbClr val="83CD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0751" y="3136392"/>
            <a:ext cx="4843119" cy="1998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Проверка гипотез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0751" y="3382010"/>
            <a:ext cx="4843119" cy="3649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Веса, горизонт и пороги меняются из интерфейса; результат пересчитывается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сразу.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233672"/>
            <a:ext cx="10874959" cy="1819656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233672"/>
            <a:ext cx="41148" cy="1819656"/>
          </a:xfrm>
          <a:prstGeom prst="rect">
            <a:avLst/>
          </a:prstGeom>
          <a:solidFill>
            <a:srgbClr val="B8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4398264"/>
            <a:ext cx="10399471" cy="1929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Чего мы не заявляем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4646041"/>
            <a:ext cx="10399471" cy="3649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Балл риска — не вероятность оттока в процентах: в снимке нет исторических исходов, поэтому модель построена на правилах, а не обучена. Точность, снижение оттока и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рост выручки не измерены — мы их не обещаем. Продукт помогает анализировать и приоритизировать; удержание зависит от следующих действий команды.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6217920"/>
            <a:ext cx="10874959" cy="9525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10874959" cy="1630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Подтверждено запуском продукта на датасете организатора: снимок импортирован, все экраны и пересчёт проверены вживую.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48640"/>
            <a:ext cx="1087495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40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АРХИТЕКТУРА ДОВЕРИЯ И ОГРАНИЧЕНИЯ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95528"/>
            <a:ext cx="10874959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Manrope"/>
                <a:cs typeface="Manrope"/>
                <a:ea typeface="Manrope"/>
              </a:rPr>
              <a:t>Данные → проверка → расчёт → интерфейс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44168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Короткий путь данных. Никаких скрытых шагов и никакой подмены отсутствующих сигналов нулём.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56232"/>
            <a:ext cx="2512999" cy="1188720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56232"/>
            <a:ext cx="2512999" cy="41148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39112"/>
            <a:ext cx="2183815" cy="18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Снимок Aéza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70760"/>
            <a:ext cx="2183815" cy="331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data.json: 10 аккаунтов, 30 услуг,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100 транзакций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21659" y="2340864"/>
            <a:ext cx="173736" cy="219456"/>
          </a:xfrm>
          <a:prstGeom prst="rightArrow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45687" y="1856232"/>
            <a:ext cx="2512999" cy="1188720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45687" y="1856232"/>
            <a:ext cx="2512999" cy="41148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0279" y="2039112"/>
            <a:ext cx="2183815" cy="18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Импорт с проверкой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0279" y="2270760"/>
            <a:ext cx="2183815" cy="331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валидация целиком до записи,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применение атомарно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008978" y="2340864"/>
            <a:ext cx="173736" cy="219456"/>
          </a:xfrm>
          <a:prstGeom prst="rightArrow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3006" y="1856232"/>
            <a:ext cx="2512999" cy="1188720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3006" y="1856232"/>
            <a:ext cx="2512999" cy="41148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7598" y="2039112"/>
            <a:ext cx="2183815" cy="18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Скоринг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7598" y="2270760"/>
            <a:ext cx="2183815" cy="331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один модуль: вес × фактор, сумма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весов в знаменателе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796297" y="2340864"/>
            <a:ext cx="173736" cy="219456"/>
          </a:xfrm>
          <a:prstGeom prst="rightArrow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20325" y="1856232"/>
            <a:ext cx="2512999" cy="1188720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20325" y="1856232"/>
            <a:ext cx="2512999" cy="41148"/>
          </a:xfrm>
          <a:prstGeom prst="rect">
            <a:avLst/>
          </a:prstGeom>
          <a:solidFill>
            <a:srgbClr val="B8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4917" y="2039112"/>
            <a:ext cx="2183815" cy="18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API и интерфейс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4917" y="2270760"/>
            <a:ext cx="2183815" cy="331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FastAPI + Postgres, панель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аналитика на React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319272"/>
            <a:ext cx="5274355" cy="2734056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3483864"/>
            <a:ext cx="4835443" cy="1929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Как обрабатываются пропуски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" y="3731641"/>
            <a:ext cx="4835443" cy="137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• Неизвестное ≠ ноль: фактор без данных исключается из числителя и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знаменателя, веса перенормируются.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• Услуги deleted и blocked — состоявшееся событие, а не прогноз: балл им не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присваивается.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• Цена не входит в формулу риска: price — это экспозиция, а не вероятность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ухода.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• Опорный момент зафиксирован (2026-10-19 15:00 UTC), поэтому числа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воспроизводимы.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07043" y="3319272"/>
            <a:ext cx="5326284" cy="2734056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26499" y="3483864"/>
            <a:ext cx="4887372" cy="1929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Ограничения, которые важно знать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6499" y="3731641"/>
            <a:ext cx="4887372" cy="1039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• Нет истории оттока — отсюда модель на правилах и отсутствие метрик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точности.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• Нет календаря будущих списаний: даты продлений выведены из expiresAt и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paymentTerm.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• Нет динамики: снимок описывает один момент, график тренда не строится.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• Нагрузка не измерялась: набор кейса — 10 / 30 / 100 записей.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3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eza_logo_on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66928"/>
            <a:ext cx="1280160" cy="3057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" y="1060704"/>
            <a:ext cx="7315200" cy="1729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3CDB7"/>
                </a:solidFill>
                <a:latin typeface="Manrope"/>
                <a:cs typeface="Manrope"/>
                <a:ea typeface="Manrope"/>
              </a:rPr>
              <a:t>ИТОГ И СЛЕДУЮЩИЙ ШАГ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72768"/>
            <a:ext cx="7589520" cy="536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Manrope"/>
                <a:cs typeface="Manrope"/>
                <a:ea typeface="Manrope"/>
              </a:rPr>
              <a:t>Не ждать ухода клиента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164080"/>
            <a:ext cx="7589520" cy="729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6B00"/>
                </a:solidFill>
                <a:latin typeface="Manrope SemiBold"/>
                <a:cs typeface="Manrope SemiBold"/>
                <a:ea typeface="Manrope SemiBold"/>
              </a:rPr>
              <a:t>Дать команде увидеть риск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6B00"/>
                </a:solidFill>
                <a:latin typeface="Manrope SemiBold"/>
                <a:cs typeface="Manrope SemiBold"/>
                <a:ea typeface="Manrope SemiBold"/>
              </a:rPr>
              <a:t>и действовать раньше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076448"/>
            <a:ext cx="7315200" cy="711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9C9C9"/>
                </a:solidFill>
                <a:latin typeface="Manrope"/>
                <a:cs typeface="Manrope"/>
                <a:ea typeface="Manrope"/>
              </a:rPr>
              <a:t>Предлагаем следующий шаг: вместе проверить модель на данных Aéza и определить, какие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9C9C9"/>
                </a:solidFill>
                <a:latin typeface="Manrope"/>
                <a:cs typeface="Manrope"/>
                <a:ea typeface="Manrope"/>
              </a:rPr>
              <a:t>сигналы действительно полезны команде удержания. Это предложение, а не существующая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9C9C9"/>
                </a:solidFill>
                <a:latin typeface="Manrope"/>
                <a:cs typeface="Manrope"/>
                <a:ea typeface="Manrope"/>
              </a:rPr>
              <a:t>договорённость.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4224528"/>
            <a:ext cx="73152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4407408"/>
            <a:ext cx="3840480" cy="1582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E8E8E"/>
                </a:solidFill>
                <a:latin typeface="Manrope"/>
                <a:cs typeface="Manrope"/>
                <a:ea typeface="Manrope"/>
              </a:rPr>
              <a:t>КОМАНДА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663440"/>
            <a:ext cx="4572000" cy="2665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Manrope SemiBold"/>
                <a:cs typeface="Manrope SemiBold"/>
                <a:ea typeface="Manrope SemiBold"/>
              </a:rPr>
              <a:t>[НАЗВАНИЕ КОМАНДЫ]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948301"/>
            <a:ext cx="4937760" cy="1983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C9C9"/>
                </a:solidFill>
                <a:latin typeface="Manrope"/>
                <a:cs typeface="Manrope"/>
                <a:ea typeface="Manrope"/>
              </a:rPr>
              <a:t>[ИМЯ УЧАСТНИКА 1] · [РОЛЬ УЧАСТНИКА 1]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146611"/>
            <a:ext cx="4937760" cy="1983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C9C9"/>
                </a:solidFill>
                <a:latin typeface="Manrope"/>
                <a:cs typeface="Manrope"/>
                <a:ea typeface="Manrope"/>
              </a:rPr>
              <a:t>[ИМЯ УЧАСТНИКА 2] · [РОЛЬ УЧАСТНИКА 2]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344921"/>
            <a:ext cx="4937760" cy="1983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C9C9"/>
                </a:solidFill>
                <a:latin typeface="Manrope"/>
                <a:cs typeface="Manrope"/>
                <a:ea typeface="Manrope"/>
              </a:rPr>
              <a:t>[ИМЯ УЧАСТНИКА 3] · [РОЛЬ УЧАСТНИКА 3]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616383"/>
            <a:ext cx="4937760" cy="1729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3CDB7"/>
                </a:solidFill>
                <a:latin typeface="Manrope Medium"/>
                <a:cs typeface="Manrope Medium"/>
                <a:ea typeface="Manrope Medium"/>
              </a:rPr>
              <a:t>[КОНТАКТ / TELEGRAM]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64447" y="1261872"/>
            <a:ext cx="2103120" cy="1582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E8E8E"/>
                </a:solidFill>
                <a:latin typeface="Manrope"/>
                <a:cs typeface="Manrope"/>
                <a:ea typeface="Manrope"/>
              </a:rPr>
              <a:t>ССЫЛКИ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37015" y="1563624"/>
            <a:ext cx="1152144" cy="1152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qr_githu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4447" y="1591056"/>
            <a:ext cx="1097280" cy="10972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064447" y="2752344"/>
            <a:ext cx="2103120" cy="1370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E8E8E"/>
                </a:solidFill>
                <a:latin typeface="Manrope SemiBold"/>
                <a:cs typeface="Manrope SemiBold"/>
                <a:ea typeface="Manrope SemiBold"/>
              </a:rPr>
              <a:t>[QR-КОД: GITHUB] · репозиторий проекта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64447" y="3310128"/>
            <a:ext cx="10972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2C9D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[ВСТАВИТЬ QR]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3007" y="446227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E8E8E"/>
                </a:solidFill>
                <a:latin typeface="Manrope SemiBold"/>
                <a:cs typeface="Manrope SemiBold"/>
                <a:ea typeface="Manrope SemiBold"/>
              </a:rPr>
              <a:t>[QR-КОД: ДЕМО]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64447" y="4846320"/>
            <a:ext cx="10972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2C9D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[ВСТАВИТЬ QR]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3007" y="599846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E8E8E"/>
                </a:solidFill>
                <a:latin typeface="Manrope SemiBold"/>
                <a:cs typeface="Manrope SemiBold"/>
                <a:ea typeface="Manrope SemiBold"/>
              </a:rPr>
              <a:t>[QR-КОД: КОНТАКТЫ]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64447" y="6144768"/>
            <a:ext cx="2103120" cy="140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ЗАПОЛНИТЬ ПЕРЕД ЗАЩИТОЙ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64447" y="6327648"/>
            <a:ext cx="2103120" cy="145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E8E8E"/>
                </a:solidFill>
                <a:latin typeface="Manrope"/>
                <a:cs typeface="Manrope"/>
                <a:ea typeface="Manrope"/>
              </a:rPr>
              <a:t>Вставьте реальные ссылки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Aéza Analyzer — защита UMIRHACK 2026</dc:title>
  <dc:subject>Анализ риска оттока клиентов хостинг-провайдера</dc:subject>
  <dc:creator>[НАЗВАНИЕ КОМАНДЫ]</dc:creator>
  <cp:keywords/>
  <dc:description>Все числа и скриншоты получены из запущенного Aéza Analyzer на датасете организатора, опорный момент 2026-10-19 15:00 UTC.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